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italic r:id="rId22"/>
    </p:embeddedFont>
    <p:embeddedFont>
      <p:font typeface="Roboto Bold" panose="02000000000000000000" charset="0"/>
      <p:regular r:id="rId23"/>
    </p:embeddedFont>
    <p:embeddedFont>
      <p:font typeface="Roboto Medium" panose="02000000000000000000" pitchFamily="2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7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5991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Deploying Microservices on AWS Managed Kubernetes Platform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61682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From Docker Containers to Amazon EKS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419556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[Presenter Name] :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15081A-E200-82DE-BB25-93E0A5D58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330" y="6499829"/>
            <a:ext cx="2019475" cy="3581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0345"/>
            <a:ext cx="844033" cy="210741"/>
          </a:xfrm>
          <a:prstGeom prst="roundRect">
            <a:avLst>
              <a:gd name="adj" fmla="val 22132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4717" y="581918"/>
            <a:ext cx="1287133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91766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From Application to Container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378446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packages a microservice with its runtime, libraries, and configuration into a portable image — ensuring consistent behavior across all environments.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685627"/>
            <a:ext cx="8452035" cy="38683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41606" y="4635359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Container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41783" y="4635359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Docker Image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352827" y="4635359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Dockerfile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320397" y="4635359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Microservice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1475" y="5677897"/>
            <a:ext cx="10868745" cy="648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Docker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standardizes packaging and distribution of applications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Containers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bundle the app with all dependencies, eliminating environment mismatch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Portability</a:t>
            </a: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runs identically on a laptop, on-premise server, or in the cloud</a:t>
            </a:r>
            <a:endParaRPr lang="en-US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B10EBE-0DAA-DE96-6D51-F6EB11FCE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330" y="6432154"/>
            <a:ext cx="2019475" cy="3581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530"/>
            <a:ext cx="1066277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571996"/>
            <a:ext cx="150580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730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Why Do We Need Kubernetes?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2611338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Managing containers manually becomes unmanageable at scale. Kubernetes automates the operational burden.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3127772"/>
            <a:ext cx="5261439" cy="857448"/>
          </a:xfrm>
          <a:prstGeom prst="roundRect">
            <a:avLst>
              <a:gd name="adj" fmla="val 6944"/>
            </a:avLst>
          </a:prstGeom>
          <a:solidFill>
            <a:srgbClr val="18256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3291483"/>
            <a:ext cx="177200" cy="1416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2037" y="3258840"/>
            <a:ext cx="465919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Kubernetes orchestrates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containerized workloads. Docker/container images provide the packaging; Kubernetes manages scheduling, scaling, and resilience. Modern clusters use runtimes like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containerd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CRI-O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941" y="121298"/>
            <a:ext cx="5437555" cy="50306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1475" y="5350371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9506" y="5498405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Scaling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9506" y="5783560"/>
            <a:ext cx="234140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Auto-scale pods based on load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05202" y="5350371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53232" y="5498405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Self-Healing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53232" y="5783560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Restart failed containers automatically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48928" y="5350371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96959" y="5498405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Service Discovery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296959" y="5783560"/>
            <a:ext cx="234140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 DNS and load balancing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892655" y="5350371"/>
            <a:ext cx="2637565" cy="978098"/>
          </a:xfrm>
          <a:prstGeom prst="roundRect">
            <a:avLst>
              <a:gd name="adj" fmla="val 6087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040686" y="5498405"/>
            <a:ext cx="23415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Rolling Updates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9040686" y="5783560"/>
            <a:ext cx="234150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Zero-downtime deployments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9051073-2BD4-3912-1F78-B6FAB827C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525" y="6476503"/>
            <a:ext cx="2019475" cy="35817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0366"/>
            <a:ext cx="1082549" cy="219869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8289" y="593725"/>
            <a:ext cx="1518505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1448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Is Kubernetes?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1475" y="1432917"/>
            <a:ext cx="1086874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Kubernetes is an open-source platform for automating deployment, scaling, and management of containerized applications — originally developed by Google and now maintained by the CNCF.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66317"/>
            <a:ext cx="723584" cy="8682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5784" y="2110978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95784" y="2403475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Isolated process with app and dependencies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834580"/>
            <a:ext cx="723584" cy="8682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5784" y="2979241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95784" y="3271738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Smallest deployable unit — wraps one or more containers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702844"/>
            <a:ext cx="723584" cy="8682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95784" y="3847505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95784" y="4140002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Pod replicas and rolling updates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571107"/>
            <a:ext cx="723584" cy="8682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95784" y="4715768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495784" y="5008265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network endpoint for accessing Pods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439370"/>
            <a:ext cx="723584" cy="8682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95784" y="5584031"/>
            <a:ext cx="10034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Cluster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495784" y="5876528"/>
            <a:ext cx="10034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of nodes running your workloads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7BC611-46F8-4B80-6A81-63CC9B2EA7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2525" y="6499829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18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Kubernetes Overview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60388"/>
            <a:ext cx="10142284" cy="4975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9F120B-4198-5286-AA74-42A0576AF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470" y="6422730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906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Kubernetes as an Airport Analogy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55973"/>
            <a:ext cx="11478330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Kubernetes works like a busy airport, coordinating many moving parts so the right workloads are in the right place at the right time.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61475" y="1147366"/>
            <a:ext cx="2674771" cy="542429"/>
          </a:xfrm>
          <a:prstGeom prst="roundRect">
            <a:avLst>
              <a:gd name="adj" fmla="val 800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1109" y="1257002"/>
            <a:ext cx="245550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1109" y="1452265"/>
            <a:ext cx="245550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 Traffic Controller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92700" y="1147366"/>
            <a:ext cx="2674871" cy="542429"/>
          </a:xfrm>
          <a:prstGeom prst="roundRect">
            <a:avLst>
              <a:gd name="adj" fmla="val 800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334" y="1257002"/>
            <a:ext cx="245560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Nodes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02334" y="1452265"/>
            <a:ext cx="245560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Terminals/Gates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4025" y="1147366"/>
            <a:ext cx="2674871" cy="542429"/>
          </a:xfrm>
          <a:prstGeom prst="roundRect">
            <a:avLst>
              <a:gd name="adj" fmla="val 800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659" y="1257002"/>
            <a:ext cx="245560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33659" y="1452265"/>
            <a:ext cx="245560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Airplanes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855350" y="1147366"/>
            <a:ext cx="2674871" cy="542429"/>
          </a:xfrm>
          <a:prstGeom prst="roundRect">
            <a:avLst>
              <a:gd name="adj" fmla="val 8004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4984" y="1257002"/>
            <a:ext cx="2455603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4984" y="1452265"/>
            <a:ext cx="2455603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Passengers</a:t>
            </a:r>
            <a:endParaRPr lang="en-US" sz="8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220" y="1893254"/>
            <a:ext cx="9106677" cy="4584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9C1660-2B29-ECEE-2FED-F15D4F7E8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330" y="6477954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6638"/>
            <a:ext cx="1119854" cy="246856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05" y="615355"/>
            <a:ext cx="1534578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925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Kubernetes Cluster Architecture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586210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Control Plane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manages cluster state; </a:t>
            </a: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Worker Nodes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run your application workloads. The API Server is the single communication interface for all interactions.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3" y="2427584"/>
            <a:ext cx="5999583" cy="3671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01514" y="2365871"/>
            <a:ext cx="433495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 Plane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201514" y="2759174"/>
            <a:ext cx="4334957" cy="1596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kube-apiserver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front-end for all cluster communication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etcd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consistent key-value store for cluster state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kube-scheduler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assigns Pods to suitable Nodes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kube-controller-manager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runs controllers that reconcile state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201514" y="4494709"/>
            <a:ext cx="433495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Worker Node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201514" y="4888012"/>
            <a:ext cx="4334957" cy="1354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kubelet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agent that manages Pods on the Node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kube-proxy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maintains network rules for Services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Container Runtime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runs containers (containerd, CRI-O)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Pods</a:t>
            </a: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host the application containers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86056E-B289-ED8D-2173-31809E3B2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524" y="6495164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327"/>
            <a:ext cx="1026392" cy="228898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762" y="600472"/>
            <a:ext cx="1455403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OBJECTS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214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Core Kubernetes Objects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82725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object has a specific role. The </a:t>
            </a:r>
            <a:r>
              <a:rPr lang="en-US" sz="11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Pod</a:t>
            </a: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smallest deployable unit in Kubernetes.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1475" y="1843489"/>
            <a:ext cx="5374347" cy="1409502"/>
          </a:xfrm>
          <a:prstGeom prst="roundRect">
            <a:avLst>
              <a:gd name="adj" fmla="val 448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435" y="1991122"/>
            <a:ext cx="451831" cy="451842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654" y="2115344"/>
            <a:ext cx="203294" cy="2032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435" y="2562920"/>
            <a:ext cx="50604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8435" y="2870200"/>
            <a:ext cx="50604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Wraps one or more containers with shared network and storage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55774" y="1834158"/>
            <a:ext cx="5374446" cy="1409502"/>
          </a:xfrm>
          <a:prstGeom prst="roundRect">
            <a:avLst>
              <a:gd name="adj" fmla="val 448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12734" y="1991122"/>
            <a:ext cx="451831" cy="451842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6953" y="2115344"/>
            <a:ext cx="203294" cy="2032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12734" y="2562920"/>
            <a:ext cx="50605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312734" y="2870200"/>
            <a:ext cx="50605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Pod replicas and rolling updates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61475" y="3363615"/>
            <a:ext cx="5374347" cy="1409502"/>
          </a:xfrm>
          <a:prstGeom prst="roundRect">
            <a:avLst>
              <a:gd name="adj" fmla="val 448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8435" y="3520579"/>
            <a:ext cx="451831" cy="451842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654" y="3644801"/>
            <a:ext cx="203294" cy="20329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435" y="4092377"/>
            <a:ext cx="50604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ReplicaSet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18435" y="4399657"/>
            <a:ext cx="50604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the desired number of Pod replicas are running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55774" y="3363615"/>
            <a:ext cx="5374446" cy="1409502"/>
          </a:xfrm>
          <a:prstGeom prst="roundRect">
            <a:avLst>
              <a:gd name="adj" fmla="val 448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12734" y="3520579"/>
            <a:ext cx="451831" cy="451842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6953" y="3644801"/>
            <a:ext cx="203294" cy="20329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12734" y="4092377"/>
            <a:ext cx="50605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312734" y="4399657"/>
            <a:ext cx="50605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DNS name and load-balanced access to Pods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61475" y="4893072"/>
            <a:ext cx="5374347" cy="1409502"/>
          </a:xfrm>
          <a:prstGeom prst="roundRect">
            <a:avLst>
              <a:gd name="adj" fmla="val 448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18435" y="5050036"/>
            <a:ext cx="451831" cy="451842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654" y="5174258"/>
            <a:ext cx="203294" cy="20329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8435" y="5621834"/>
            <a:ext cx="50604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ConfigMap / Secret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818435" y="5929114"/>
            <a:ext cx="50604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configuration and sensitive data separately from code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155774" y="4893072"/>
            <a:ext cx="5374446" cy="1409502"/>
          </a:xfrm>
          <a:prstGeom prst="roundRect">
            <a:avLst>
              <a:gd name="adj" fmla="val 4488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312734" y="5050036"/>
            <a:ext cx="451831" cy="451842"/>
          </a:xfrm>
          <a:prstGeom prst="ellipse">
            <a:avLst/>
          </a:prstGeom>
          <a:solidFill>
            <a:srgbClr val="5A6ED8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6953" y="5174258"/>
            <a:ext cx="203294" cy="20329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12734" y="5621834"/>
            <a:ext cx="50605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Namespace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6312734" y="5929114"/>
            <a:ext cx="50605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cluster for isolating resources within a cluster</a:t>
            </a:r>
            <a:endParaRPr lang="en-US" sz="11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5130063-FAE0-4EE2-0E2A-2E577E3A93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0330" y="6445856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309"/>
            <a:ext cx="1105964" cy="228898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762" y="615454"/>
            <a:ext cx="1534975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47130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Pod &amp; Service YAML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617662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Pod YAML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1987947"/>
            <a:ext cx="5250624" cy="3192066"/>
          </a:xfrm>
          <a:prstGeom prst="roundRect">
            <a:avLst>
              <a:gd name="adj" fmla="val 1982"/>
            </a:avLst>
          </a:prstGeom>
          <a:solidFill>
            <a:srgbClr val="0D0D25"/>
          </a:solidFill>
          <a:ln/>
        </p:spPr>
      </p:sp>
      <p:sp>
        <p:nvSpPr>
          <p:cNvPr id="7" name="Text 5"/>
          <p:cNvSpPr/>
          <p:nvPr/>
        </p:nvSpPr>
        <p:spPr>
          <a:xfrm>
            <a:off x="842148" y="2138561"/>
            <a:ext cx="4889278" cy="289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user-pod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user-service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user-service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user-service:v1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containerPort: 8080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85946" y="1617662"/>
            <a:ext cx="525062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Service YAML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85946" y="1987947"/>
            <a:ext cx="5250624" cy="2951162"/>
          </a:xfrm>
          <a:prstGeom prst="roundRect">
            <a:avLst>
              <a:gd name="adj" fmla="val 2144"/>
            </a:avLst>
          </a:prstGeom>
          <a:solidFill>
            <a:srgbClr val="0D0D25"/>
          </a:solidFill>
          <a:ln/>
        </p:spPr>
      </p:sp>
      <p:sp>
        <p:nvSpPr>
          <p:cNvPr id="10" name="Text 8"/>
          <p:cNvSpPr/>
          <p:nvPr/>
        </p:nvSpPr>
        <p:spPr>
          <a:xfrm>
            <a:off x="6466619" y="2138561"/>
            <a:ext cx="4889278" cy="264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Service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user-service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user-service   # Finds matching Pods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ports: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port: 80            # Service port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targetPort: 8080    # Container port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LoadBalancer    # Exposes externally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1475" y="5449888"/>
            <a:ext cx="3542914" cy="837704"/>
          </a:xfrm>
          <a:prstGeom prst="roundRect">
            <a:avLst>
              <a:gd name="adj" fmla="val 7552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435" y="5606852"/>
            <a:ext cx="32289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port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8435" y="5914132"/>
            <a:ext cx="32289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 exposed by the Service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4341" y="5449888"/>
            <a:ext cx="3542914" cy="837704"/>
          </a:xfrm>
          <a:prstGeom prst="roundRect">
            <a:avLst>
              <a:gd name="adj" fmla="val 7552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1301" y="5606852"/>
            <a:ext cx="32289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targetPort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81301" y="5914132"/>
            <a:ext cx="32289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 on the Pod receiving traffic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87207" y="5449888"/>
            <a:ext cx="3543013" cy="837704"/>
          </a:xfrm>
          <a:prstGeom prst="roundRect">
            <a:avLst>
              <a:gd name="adj" fmla="val 7552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4167" y="5606852"/>
            <a:ext cx="32290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type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144167" y="5914132"/>
            <a:ext cx="3229093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ClusterIP · NodePort · LoadBalancer</a:t>
            </a:r>
            <a:endParaRPr lang="en-US" sz="11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EA5E30-D259-87E0-26E0-952CA1D0B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525" y="6444556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5686"/>
            <a:ext cx="116549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82340"/>
            <a:ext cx="15482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EKS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884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Why Use Amazon EKS?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6254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EKS is AWS's managed Kubernetes service — running upstream Kubernetes with AWS-managed control plane and deep AWS integration.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96902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Self-Managed Kubernetes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5330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operate and maintain the control plane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manage high availability and upgrades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operational responsibility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6651" y="2780010"/>
            <a:ext cx="5476043" cy="2081212"/>
          </a:xfrm>
          <a:prstGeom prst="roundRect">
            <a:avLst>
              <a:gd name="adj" fmla="val 6539"/>
            </a:avLst>
          </a:prstGeom>
          <a:solidFill>
            <a:srgbClr val="28282F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85658" y="296902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Amazon EKS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3453309"/>
            <a:ext cx="5098029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manages the control plane across AZs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integration with VPC, IAM, ECR, CloudWatch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Node Groups, Karpenter, or EKS Auto Mode for data plane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5073848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18256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341541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5723" y="5310088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EKS manages the control plane. Data-plane management depends on configuration: </a:t>
            </a: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Managed Node Groups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Karpenter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EKS Auto Mode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A7C565-0DCE-A7F7-286E-B1681BAAA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525" y="6499829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92669" cy="26918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735" y="572889"/>
            <a:ext cx="1489732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EKS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5536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Amazon EKS Architecture</a:t>
            </a:r>
            <a:endParaRPr lang="en-US" sz="3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53270"/>
            <a:ext cx="5733807" cy="28669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2349" y="1824335"/>
            <a:ext cx="431412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Managed Control Plane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222349" y="2267347"/>
            <a:ext cx="4314122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Server, etcd, Scheduler, Controller Manager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Distributed across multiple Availability Zones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upgrades and patching by AWS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222349" y="3373636"/>
            <a:ext cx="431412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Plane (Worker Nodes)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22349" y="3816648"/>
            <a:ext cx="4314122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EC2 instances, Fargate, or Outposts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kubelet, kube-proxy, and container runtime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Hosts Pods running your microservices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22349" y="4922937"/>
            <a:ext cx="431412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Developer Workflow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222349" y="5365948"/>
            <a:ext cx="43141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Developer → kubectl / AWS Console → EKS API → Control Plane → Worker Nodes → Pods → Microservices</a:t>
            </a:r>
            <a:endParaRPr lang="en-US" sz="13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DA9466-8275-AE00-3CCD-3A79FAAC3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525" y="6499829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111"/>
            <a:ext cx="763172" cy="183952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4101" y="606425"/>
            <a:ext cx="1227504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85019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Kubernetes Ingress &amp; Networking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376" y="1279624"/>
            <a:ext cx="5374843" cy="33147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4874716"/>
            <a:ext cx="5395579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960640"/>
            <a:ext cx="539557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Client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5196384"/>
            <a:ext cx="539557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users or applications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34542" y="4874716"/>
            <a:ext cx="5395678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0" name="Text 7"/>
          <p:cNvSpPr/>
          <p:nvPr/>
        </p:nvSpPr>
        <p:spPr>
          <a:xfrm>
            <a:off x="6134542" y="4960640"/>
            <a:ext cx="539567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Ingress Controller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34542" y="5196384"/>
            <a:ext cx="5395678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Routes traffic based on rules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1475" y="5716588"/>
            <a:ext cx="5395579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3" name="Text 10"/>
          <p:cNvSpPr/>
          <p:nvPr/>
        </p:nvSpPr>
        <p:spPr>
          <a:xfrm>
            <a:off x="661475" y="5802511"/>
            <a:ext cx="539557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Services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1475" y="6038255"/>
            <a:ext cx="539557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Pods and provide stable endpoints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34542" y="5716588"/>
            <a:ext cx="5395678" cy="1270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6" name="Text 13"/>
          <p:cNvSpPr/>
          <p:nvPr/>
        </p:nvSpPr>
        <p:spPr>
          <a:xfrm>
            <a:off x="6134542" y="5802511"/>
            <a:ext cx="539567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Pods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134542" y="6038255"/>
            <a:ext cx="5395678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containers running the application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206D9B-DA3E-FE3B-639C-8D94077D4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525" y="6499829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27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Takeaways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21397"/>
            <a:ext cx="3496877" cy="1983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306318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367734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Docker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408602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Packages microservices into containers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921397"/>
            <a:ext cx="3496877" cy="19838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306318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367734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Kubernetes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408602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Automates deployment, scaling &amp; management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921397"/>
            <a:ext cx="3496877" cy="19838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306318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367734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Amazon EKS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4086027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managed Kubernetes on AWS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CCF8CB-8466-1B8D-34BC-4BEF72286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801" y="6459465"/>
            <a:ext cx="2019475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29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8704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F5F7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attention.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72929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Any Questions?</a:t>
            </a:r>
            <a:endParaRPr lang="en-US" sz="111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8FBBC7-7E3A-7304-C38B-C0BFD0EAA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041" y="6582950"/>
            <a:ext cx="1607959" cy="275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828</Words>
  <Application>Microsoft Office PowerPoint</Application>
  <PresentationFormat>Widescreen</PresentationFormat>
  <Paragraphs>171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Roboto Medium</vt:lpstr>
      <vt:lpstr>Consolas</vt:lpstr>
      <vt:lpstr>Roboto Bold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Ajay Kumar Yadav</dc:creator>
  <cp:lastModifiedBy>Sonam Yadav</cp:lastModifiedBy>
  <cp:revision>4</cp:revision>
  <dcterms:created xsi:type="dcterms:W3CDTF">2026-09-24T10:39:48Z</dcterms:created>
  <dcterms:modified xsi:type="dcterms:W3CDTF">2026-09-24T11:09:39Z</dcterms:modified>
</cp:coreProperties>
</file>